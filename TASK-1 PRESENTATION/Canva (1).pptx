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494" y="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701881">
            <a:off x="15409524" y="7040436"/>
            <a:ext cx="1752722" cy="2984512"/>
          </a:xfrm>
          <a:custGeom>
            <a:avLst/>
            <a:gdLst/>
            <a:ahLst/>
            <a:cxnLst/>
            <a:rect l="l" t="t" r="r" b="b"/>
            <a:pathLst>
              <a:path w="1752722" h="2984512">
                <a:moveTo>
                  <a:pt x="0" y="0"/>
                </a:moveTo>
                <a:lnTo>
                  <a:pt x="1752722" y="0"/>
                </a:lnTo>
                <a:lnTo>
                  <a:pt x="1752722" y="2984511"/>
                </a:lnTo>
                <a:lnTo>
                  <a:pt x="0" y="2984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52279" y="3698050"/>
            <a:ext cx="11983442" cy="285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</a:pPr>
            <a:r>
              <a:rPr lang="en-US" sz="72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Retropix"/>
                <a:ea typeface="Retropix"/>
                <a:cs typeface="Retropix"/>
                <a:sym typeface="Retropix"/>
              </a:rPr>
              <a:t>DIGITAL LITERACY BASICS FOR FIRST-TIME INTERNET USERS FROM SMALL TOWNS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6687" y="712407"/>
            <a:ext cx="3304177" cy="2598479"/>
          </a:xfrm>
          <a:custGeom>
            <a:avLst/>
            <a:gdLst/>
            <a:ahLst/>
            <a:cxnLst/>
            <a:rect l="l" t="t" r="r" b="b"/>
            <a:pathLst>
              <a:path w="3319587" h="2540993">
                <a:moveTo>
                  <a:pt x="0" y="0"/>
                </a:moveTo>
                <a:lnTo>
                  <a:pt x="3319587" y="0"/>
                </a:lnTo>
                <a:lnTo>
                  <a:pt x="3319587" y="2540993"/>
                </a:lnTo>
                <a:lnTo>
                  <a:pt x="0" y="2540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270546" y="694992"/>
            <a:ext cx="2489634" cy="2408155"/>
          </a:xfrm>
          <a:custGeom>
            <a:avLst/>
            <a:gdLst/>
            <a:ahLst/>
            <a:cxnLst/>
            <a:rect l="l" t="t" r="r" b="b"/>
            <a:pathLst>
              <a:path w="2489634" h="2408155">
                <a:moveTo>
                  <a:pt x="0" y="0"/>
                </a:moveTo>
                <a:lnTo>
                  <a:pt x="2489634" y="0"/>
                </a:lnTo>
                <a:lnTo>
                  <a:pt x="2489634" y="2408155"/>
                </a:lnTo>
                <a:lnTo>
                  <a:pt x="0" y="2408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1369725">
            <a:off x="1480565" y="7445351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13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803892">
            <a:off x="1213655" y="1116936"/>
            <a:ext cx="3278922" cy="3183535"/>
          </a:xfrm>
          <a:custGeom>
            <a:avLst/>
            <a:gdLst/>
            <a:ahLst/>
            <a:cxnLst/>
            <a:rect l="l" t="t" r="r" b="b"/>
            <a:pathLst>
              <a:path w="3278922" h="3183535">
                <a:moveTo>
                  <a:pt x="0" y="0"/>
                </a:moveTo>
                <a:lnTo>
                  <a:pt x="3278922" y="0"/>
                </a:lnTo>
                <a:lnTo>
                  <a:pt x="3278922" y="3183535"/>
                </a:lnTo>
                <a:lnTo>
                  <a:pt x="0" y="3183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biLevel thresh="25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53068" y="6900396"/>
            <a:ext cx="2935223" cy="2935223"/>
          </a:xfrm>
          <a:custGeom>
            <a:avLst/>
            <a:gdLst/>
            <a:ahLst/>
            <a:cxnLst/>
            <a:rect l="l" t="t" r="r" b="b"/>
            <a:pathLst>
              <a:path w="2935223" h="2935223">
                <a:moveTo>
                  <a:pt x="0" y="0"/>
                </a:moveTo>
                <a:lnTo>
                  <a:pt x="2935223" y="0"/>
                </a:lnTo>
                <a:lnTo>
                  <a:pt x="2935223" y="2935223"/>
                </a:lnTo>
                <a:lnTo>
                  <a:pt x="0" y="2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biLevel thresh="75000"/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1668584"/>
            <a:ext cx="9521511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 b="1" u="sng" dirty="0">
                <a:solidFill>
                  <a:schemeClr val="accent2">
                    <a:lumMod val="75000"/>
                  </a:schemeClr>
                </a:solidFill>
                <a:latin typeface="Retropix"/>
                <a:ea typeface="Retropix"/>
                <a:cs typeface="Retropix"/>
                <a:sym typeface="Retropix"/>
              </a:rPr>
              <a:t>WHAT DIGITAL LITERACY 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96401" y="4139090"/>
            <a:ext cx="12095198" cy="436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</a:pPr>
            <a:r>
              <a:rPr lang="en-US" sz="3706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Digital literacy is the ability to use digital devices, the internet, and online tools safely, effectively, and responsibly. It is not just about knowing how to use a mobile phone or computer, but also about understanding how to find information, communicate properly, protect personal data, and behave responsibly online</a:t>
            </a:r>
            <a:r>
              <a:rPr lang="en-US" sz="370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4892"/>
              </a:lnSpc>
            </a:pPr>
            <a:endParaRPr lang="en-US" sz="3706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715702" y="481788"/>
            <a:ext cx="2783403" cy="2783403"/>
          </a:xfrm>
          <a:custGeom>
            <a:avLst/>
            <a:gdLst/>
            <a:ahLst/>
            <a:cxnLst/>
            <a:rect l="l" t="t" r="r" b="b"/>
            <a:pathLst>
              <a:path w="2783403" h="2783403">
                <a:moveTo>
                  <a:pt x="0" y="0"/>
                </a:moveTo>
                <a:lnTo>
                  <a:pt x="2783403" y="0"/>
                </a:lnTo>
                <a:lnTo>
                  <a:pt x="2783403" y="2783403"/>
                </a:lnTo>
                <a:lnTo>
                  <a:pt x="0" y="278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2728" y="7865064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24110" y="3050017"/>
            <a:ext cx="7527067" cy="450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endParaRPr/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digital tools like smartphones, computers, email,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Search, evaluate, and use information from the internet correctly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Communicate professionally through emails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 themselves from online threats such as scams, frauds, and cybercrime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 a positive and professional online presence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9340" y="3391510"/>
            <a:ext cx="4748412" cy="44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637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DIGITALLY LITERATE PERSON KNOWS HOW 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5580201" y="475392"/>
            <a:ext cx="7284552" cy="2013468"/>
            <a:chOff x="0" y="0"/>
            <a:chExt cx="2443846" cy="6754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66800" y="272564"/>
            <a:ext cx="7342442" cy="2016940"/>
            <a:chOff x="0" y="0"/>
            <a:chExt cx="2463267" cy="676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33422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sp>
      <p:sp>
        <p:nvSpPr>
          <p:cNvPr id="12" name="TextBox 12"/>
          <p:cNvSpPr txBox="1"/>
          <p:nvPr/>
        </p:nvSpPr>
        <p:spPr>
          <a:xfrm>
            <a:off x="5637192" y="501814"/>
            <a:ext cx="7072049" cy="17717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617" b="1" u="sng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USEFUL DIGITAL TOOLS FOR STUDENTS:</a:t>
            </a:r>
          </a:p>
          <a:p>
            <a:pPr algn="l">
              <a:lnSpc>
                <a:spcPts val="3454"/>
              </a:lnSpc>
            </a:pPr>
            <a:r>
              <a:rPr lang="en-US" sz="2617" b="1" u="sng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HELPFUL FOR FIRST-TIME INTERNET USERS FROM SMALL TOWNS </a:t>
            </a:r>
          </a:p>
          <a:p>
            <a:pPr algn="l">
              <a:lnSpc>
                <a:spcPts val="3454"/>
              </a:lnSpc>
            </a:pPr>
            <a:endParaRPr lang="en-US" sz="2617" dirty="0">
              <a:solidFill>
                <a:srgbClr val="FFFFFF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08141" y="5224490"/>
            <a:ext cx="198412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GOOGLE</a:t>
            </a:r>
          </a:p>
        </p:txBody>
      </p:sp>
      <p:sp>
        <p:nvSpPr>
          <p:cNvPr id="14" name="Freeform 14"/>
          <p:cNvSpPr/>
          <p:nvPr/>
        </p:nvSpPr>
        <p:spPr>
          <a:xfrm>
            <a:off x="733422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grpSp>
        <p:nvGrpSpPr>
          <p:cNvPr id="15" name="Group 15"/>
          <p:cNvGrpSpPr/>
          <p:nvPr/>
        </p:nvGrpSpPr>
        <p:grpSpPr>
          <a:xfrm>
            <a:off x="733422" y="3173471"/>
            <a:ext cx="5373101" cy="1485139"/>
            <a:chOff x="0" y="0"/>
            <a:chExt cx="2443846" cy="6754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6017" y="3023864"/>
            <a:ext cx="5415801" cy="1487699"/>
            <a:chOff x="0" y="0"/>
            <a:chExt cx="2463267" cy="676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630" y="3173471"/>
            <a:ext cx="5373101" cy="1485139"/>
            <a:chOff x="0" y="0"/>
            <a:chExt cx="2443846" cy="6754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57224" y="3023864"/>
            <a:ext cx="5415801" cy="1487699"/>
            <a:chOff x="0" y="0"/>
            <a:chExt cx="2463267" cy="6766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97561" y="3173471"/>
            <a:ext cx="5373101" cy="1485139"/>
            <a:chOff x="0" y="0"/>
            <a:chExt cx="2443846" cy="67548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0155" y="3023864"/>
            <a:ext cx="5415801" cy="1487699"/>
            <a:chOff x="0" y="0"/>
            <a:chExt cx="2463267" cy="6766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614630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4" name="Freeform 34"/>
          <p:cNvSpPr/>
          <p:nvPr/>
        </p:nvSpPr>
        <p:spPr>
          <a:xfrm>
            <a:off x="6614630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Freeform 35"/>
          <p:cNvSpPr/>
          <p:nvPr/>
        </p:nvSpPr>
        <p:spPr>
          <a:xfrm>
            <a:off x="12495837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36" name="Freeform 36"/>
          <p:cNvSpPr/>
          <p:nvPr/>
        </p:nvSpPr>
        <p:spPr>
          <a:xfrm>
            <a:off x="12495837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37" name="TextBox 37"/>
          <p:cNvSpPr txBox="1"/>
          <p:nvPr/>
        </p:nvSpPr>
        <p:spPr>
          <a:xfrm>
            <a:off x="816361" y="3361250"/>
            <a:ext cx="4935112" cy="55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Search &amp; Information Tools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33624" y="3113554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Communication &amp; Collaboration Tools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0500" y="3190235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Learning &amp; Skill-Building Tools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14226" y="7055763"/>
            <a:ext cx="2171957" cy="74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Wikipedia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61108" y="5211059"/>
            <a:ext cx="1421424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Gmail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0348" y="7177867"/>
            <a:ext cx="3912381" cy="53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289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Instagram/Whatsaap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76879" y="5211059"/>
            <a:ext cx="233586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YouTube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66284" y="7055763"/>
            <a:ext cx="315705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HackerRank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34354" y="6390107"/>
            <a:ext cx="2724946" cy="2724946"/>
          </a:xfrm>
          <a:custGeom>
            <a:avLst/>
            <a:gdLst/>
            <a:ahLst/>
            <a:cxnLst/>
            <a:rect l="l" t="t" r="r" b="b"/>
            <a:pathLst>
              <a:path w="2724946" h="2724946">
                <a:moveTo>
                  <a:pt x="0" y="0"/>
                </a:moveTo>
                <a:lnTo>
                  <a:pt x="2724946" y="0"/>
                </a:lnTo>
                <a:lnTo>
                  <a:pt x="2724946" y="2724946"/>
                </a:lnTo>
                <a:lnTo>
                  <a:pt x="0" y="2724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2468247"/>
            <a:ext cx="9521511" cy="225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60314" y="5105400"/>
            <a:ext cx="10367373" cy="2617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internet practices are the rules and habits that help users stay secure, private, and protected while using the internet. These practices are especially important for first-time internet users to avoid scams, data theft, and misuse of personal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3" y="-5355079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16590762" y="763126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7734975"/>
            <a:ext cx="2946941" cy="3046650"/>
          </a:xfrm>
          <a:custGeom>
            <a:avLst/>
            <a:gdLst/>
            <a:ahLst/>
            <a:cxnLst/>
            <a:rect l="l" t="t" r="r" b="b"/>
            <a:pathLst>
              <a:path w="2946941" h="3046650">
                <a:moveTo>
                  <a:pt x="0" y="0"/>
                </a:moveTo>
                <a:lnTo>
                  <a:pt x="2946941" y="0"/>
                </a:lnTo>
                <a:lnTo>
                  <a:pt x="2946941" y="3046650"/>
                </a:lnTo>
                <a:lnTo>
                  <a:pt x="0" y="304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52621" y="1028700"/>
            <a:ext cx="3342979" cy="2048334"/>
          </a:xfrm>
          <a:custGeom>
            <a:avLst/>
            <a:gdLst/>
            <a:ahLst/>
            <a:cxnLst/>
            <a:rect l="l" t="t" r="r" b="b"/>
            <a:pathLst>
              <a:path w="3342979" h="2048334">
                <a:moveTo>
                  <a:pt x="0" y="0"/>
                </a:moveTo>
                <a:lnTo>
                  <a:pt x="3342978" y="0"/>
                </a:lnTo>
                <a:lnTo>
                  <a:pt x="3342978" y="2048334"/>
                </a:lnTo>
                <a:lnTo>
                  <a:pt x="0" y="204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5400000" algn="t" rotWithShape="0">
              <a:schemeClr val="accent2">
                <a:lumMod val="75000"/>
                <a:alpha val="40000"/>
              </a:schemeClr>
            </a:outerShdw>
          </a:effectLst>
        </p:spPr>
      </p:sp>
      <p:sp>
        <p:nvSpPr>
          <p:cNvPr id="13" name="TextBox 13"/>
          <p:cNvSpPr txBox="1"/>
          <p:nvPr/>
        </p:nvSpPr>
        <p:spPr>
          <a:xfrm>
            <a:off x="7303308" y="2509784"/>
            <a:ext cx="10101506" cy="624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Strong Passwords.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2. Avoid Clicking Unknown Links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Protect Personal Information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Use Secure Websites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Keep Devices Updated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Verify Information Before Sharing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1235136" y="3469636"/>
            <a:ext cx="9315960" cy="211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8000" dirty="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SAFE INTERNET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1863419" y="5205165"/>
            <a:ext cx="9214116" cy="3928579"/>
            <a:chOff x="0" y="0"/>
            <a:chExt cx="2426763" cy="1034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6763" cy="1034688"/>
            </a:xfrm>
            <a:custGeom>
              <a:avLst/>
              <a:gdLst/>
              <a:ahLst/>
              <a:cxnLst/>
              <a:rect l="l" t="t" r="r" b="b"/>
              <a:pathLst>
                <a:path w="2426763" h="1034688">
                  <a:moveTo>
                    <a:pt x="0" y="0"/>
                  </a:moveTo>
                  <a:lnTo>
                    <a:pt x="2426763" y="0"/>
                  </a:lnTo>
                  <a:lnTo>
                    <a:pt x="2426763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26763" cy="10727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3217" y="4911117"/>
            <a:ext cx="9352718" cy="3928579"/>
            <a:chOff x="0" y="0"/>
            <a:chExt cx="2463267" cy="10346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1034688"/>
            </a:xfrm>
            <a:custGeom>
              <a:avLst/>
              <a:gdLst/>
              <a:ahLst/>
              <a:cxnLst/>
              <a:rect l="l" t="t" r="r" b="b"/>
              <a:pathLst>
                <a:path w="2463267" h="1034688">
                  <a:moveTo>
                    <a:pt x="0" y="0"/>
                  </a:moveTo>
                  <a:lnTo>
                    <a:pt x="2463267" y="0"/>
                  </a:lnTo>
                  <a:lnTo>
                    <a:pt x="2463267" y="1034688"/>
                  </a:lnTo>
                  <a:lnTo>
                    <a:pt x="0" y="1034688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107278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554200" y="4703964"/>
            <a:ext cx="2746475" cy="2526617"/>
          </a:xfrm>
          <a:custGeom>
            <a:avLst/>
            <a:gdLst/>
            <a:ahLst/>
            <a:cxnLst/>
            <a:rect l="l" t="t" r="r" b="b"/>
            <a:pathLst>
              <a:path w="3550526" h="3550526">
                <a:moveTo>
                  <a:pt x="0" y="0"/>
                </a:moveTo>
                <a:lnTo>
                  <a:pt x="3550526" y="0"/>
                </a:lnTo>
                <a:lnTo>
                  <a:pt x="3550526" y="3550526"/>
                </a:lnTo>
                <a:lnTo>
                  <a:pt x="0" y="355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501574" y="6914263"/>
            <a:ext cx="3747486" cy="3372737"/>
          </a:xfrm>
          <a:custGeom>
            <a:avLst/>
            <a:gdLst/>
            <a:ahLst/>
            <a:cxnLst/>
            <a:rect l="l" t="t" r="r" b="b"/>
            <a:pathLst>
              <a:path w="3747486" h="3372737">
                <a:moveTo>
                  <a:pt x="0" y="0"/>
                </a:moveTo>
                <a:lnTo>
                  <a:pt x="3747485" y="0"/>
                </a:lnTo>
                <a:lnTo>
                  <a:pt x="3747485" y="3372737"/>
                </a:lnTo>
                <a:lnTo>
                  <a:pt x="0" y="3372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86629" y="13618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biLevel thresh="75000"/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27667" y="5621740"/>
            <a:ext cx="8043818" cy="246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professional online presence means how a person represents themselves on the internet in an academic or career-focused manner. It reflects a person’s skills, interests, behavior, and seriousness toward education or work.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0823" y="2112976"/>
            <a:ext cx="8846712" cy="211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231" dirty="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PROFESSIONAL ONLINE PRESENCE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biLevel thresh="75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43817" y="1877341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Professional Platforms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profiles on platforms like LinkedIn, GitHub, or Kaggle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your real name and correct academic details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5156" y="424234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Share Educational and Skill-Based Content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about projects, learning achievements, or certifications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posting offensive, misleading, or inappropriate 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591406"/>
            <a:ext cx="10290567" cy="274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Communicate Respectfully Online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polite language in messages, comments, and emails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slang or informal tone in professional communication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53550" y="1706908"/>
            <a:ext cx="11113566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Maintain a Professional Profile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 simple and decent profile photo (optional)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Write a short, clear bio about your academic interests and goals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4889" y="400956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5. Be Careful About Digital Footprints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posted online can be seen later by teachers or employers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old posts and remove anything unprofessional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729833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Follow Ethical Online Behavior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 credit to others’ work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plagiarism and fake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52819" y="2332711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13004" y="244422"/>
            <a:ext cx="2877290" cy="2877290"/>
          </a:xfrm>
          <a:custGeom>
            <a:avLst/>
            <a:gdLst/>
            <a:ahLst/>
            <a:cxnLst/>
            <a:rect l="l" t="t" r="r" b="b"/>
            <a:pathLst>
              <a:path w="2877290" h="2877290">
                <a:moveTo>
                  <a:pt x="0" y="0"/>
                </a:moveTo>
                <a:lnTo>
                  <a:pt x="2877291" y="0"/>
                </a:lnTo>
                <a:lnTo>
                  <a:pt x="2877291" y="2877290"/>
                </a:lnTo>
                <a:lnTo>
                  <a:pt x="0" y="2877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2102" y="7460334"/>
            <a:ext cx="2631465" cy="2468793"/>
          </a:xfrm>
          <a:custGeom>
            <a:avLst/>
            <a:gdLst/>
            <a:ahLst/>
            <a:cxnLst/>
            <a:rect l="l" t="t" r="r" b="b"/>
            <a:pathLst>
              <a:path w="2631465" h="2468793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839200" y="4129016"/>
            <a:ext cx="7414727" cy="2268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508" b="1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Name- Abhiraj Sinha</a:t>
            </a:r>
          </a:p>
          <a:p>
            <a:pPr algn="ctr">
              <a:lnSpc>
                <a:spcPts val="5951"/>
              </a:lnSpc>
            </a:pPr>
            <a:r>
              <a:rPr lang="en-US" sz="4508" b="1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 No -: 25BAI10551</a:t>
            </a:r>
          </a:p>
          <a:p>
            <a:pPr algn="ctr">
              <a:lnSpc>
                <a:spcPts val="5951"/>
              </a:lnSpc>
            </a:pPr>
            <a:r>
              <a:rPr lang="en-US" sz="4508" b="1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course-Digital Literacy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13" y="4341096"/>
            <a:ext cx="8235397" cy="201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37"/>
              </a:lnSpc>
            </a:pPr>
            <a:r>
              <a:rPr lang="en-US" sz="127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446</Words>
  <Application>Microsoft Office PowerPoint</Application>
  <PresentationFormat>Custom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Calibri</vt:lpstr>
      <vt:lpstr>Retropix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White and Grey Pixelated Retro Interface Presentation</dc:title>
  <dc:creator>Abhiraj Sinha</dc:creator>
  <cp:lastModifiedBy>Abhiraj Sinha</cp:lastModifiedBy>
  <cp:revision>2</cp:revision>
  <dcterms:created xsi:type="dcterms:W3CDTF">2006-08-16T00:00:00Z</dcterms:created>
  <dcterms:modified xsi:type="dcterms:W3CDTF">2026-03-28T13:24:16Z</dcterms:modified>
  <dc:identifier>DAHE959ARCM</dc:identifier>
</cp:coreProperties>
</file>